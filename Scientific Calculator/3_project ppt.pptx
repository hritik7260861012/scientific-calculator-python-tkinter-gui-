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5" r:id="rId2"/>
    <p:sldId id="267" r:id="rId3"/>
    <p:sldId id="268" r:id="rId4"/>
    <p:sldId id="269" r:id="rId5"/>
    <p:sldId id="270" r:id="rId6"/>
    <p:sldId id="262" r:id="rId7"/>
    <p:sldId id="257" r:id="rId8"/>
    <p:sldId id="258" r:id="rId9"/>
    <p:sldId id="261" r:id="rId10"/>
    <p:sldId id="263" r:id="rId11"/>
    <p:sldId id="271" r:id="rId12"/>
    <p:sldId id="266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C34CEB-7BB4-4C50-873B-B67385F76985}">
          <p14:sldIdLst>
            <p14:sldId id="265"/>
            <p14:sldId id="267"/>
            <p14:sldId id="268"/>
            <p14:sldId id="269"/>
            <p14:sldId id="270"/>
            <p14:sldId id="262"/>
            <p14:sldId id="257"/>
            <p14:sldId id="258"/>
            <p14:sldId id="261"/>
            <p14:sldId id="263"/>
            <p14:sldId id="271"/>
            <p14:sldId id="266"/>
            <p14:sldId id="264"/>
          </p14:sldIdLst>
        </p14:section>
        <p14:section name="Untitled Section" id="{A54832BC-CE86-470D-8A17-DE7F683D4EC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8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14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4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60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86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2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2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9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1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5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6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679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55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6730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382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901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28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8F30-8134-37F4-8505-3F17ED41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133" y="0"/>
            <a:ext cx="6163734" cy="37989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A</a:t>
            </a:r>
            <a:br>
              <a:rPr lang="en-US" sz="4000" b="1" dirty="0">
                <a:latin typeface="Algerian" panose="04020705040A02060702" pitchFamily="82" charset="0"/>
              </a:rPr>
            </a:br>
            <a:r>
              <a:rPr lang="en-US" sz="4000" b="1" dirty="0">
                <a:latin typeface="Algerian" panose="04020705040A02060702" pitchFamily="82" charset="0"/>
              </a:rPr>
              <a:t> Industrial Training </a:t>
            </a:r>
            <a:br>
              <a:rPr lang="en-US" sz="4000" b="1" dirty="0">
                <a:latin typeface="Algerian" panose="04020705040A02060702" pitchFamily="82" charset="0"/>
              </a:rPr>
            </a:br>
            <a:r>
              <a:rPr lang="en-US" sz="4000" b="1" dirty="0">
                <a:latin typeface="Algerian" panose="04020705040A02060702" pitchFamily="82" charset="0"/>
              </a:rPr>
              <a:t>On</a:t>
            </a:r>
            <a:br>
              <a:rPr lang="en-US" sz="4000" b="1" dirty="0">
                <a:latin typeface="Algerian" panose="04020705040A02060702" pitchFamily="82" charset="0"/>
              </a:rPr>
            </a:br>
            <a:r>
              <a:rPr lang="en-US" sz="4000" b="1" dirty="0">
                <a:latin typeface="Algerian" panose="04020705040A02060702" pitchFamily="82" charset="0"/>
              </a:rPr>
              <a:t> Python development</a:t>
            </a:r>
            <a:br>
              <a:rPr lang="en-US" sz="4000" b="1" dirty="0">
                <a:latin typeface="Algerian" panose="04020705040A02060702" pitchFamily="82" charset="0"/>
              </a:rPr>
            </a:br>
            <a:r>
              <a:rPr lang="en-US" sz="4000" b="1" dirty="0">
                <a:latin typeface="Algerian" panose="04020705040A02060702" pitchFamily="82" charset="0"/>
              </a:rPr>
              <a:t> from </a:t>
            </a:r>
            <a:br>
              <a:rPr lang="en-US" sz="4000" b="1" dirty="0">
                <a:latin typeface="Algerian" panose="04020705040A02060702" pitchFamily="82" charset="0"/>
              </a:rPr>
            </a:br>
            <a:r>
              <a:rPr lang="en-US" sz="4000" b="1" dirty="0">
                <a:latin typeface="Algerian" panose="04020705040A02060702" pitchFamily="82" charset="0"/>
              </a:rPr>
              <a:t>Simplilearn by skill up </a:t>
            </a:r>
            <a:endParaRPr lang="en-US" sz="4000" b="1" u="sng" dirty="0">
              <a:latin typeface="Algerian" panose="04020705040A02060702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7EA50-73B2-E25F-7827-F024FE5DF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29" y="0"/>
            <a:ext cx="2129371" cy="700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AE5F38-5A1C-94C0-2399-079A9C278A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534" y="1"/>
            <a:ext cx="1151466" cy="863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255CA9-28CA-7F18-D72E-D2C93E625982}"/>
              </a:ext>
            </a:extLst>
          </p:cNvPr>
          <p:cNvSpPr txBox="1"/>
          <p:nvPr/>
        </p:nvSpPr>
        <p:spPr>
          <a:xfrm>
            <a:off x="1337733" y="4088278"/>
            <a:ext cx="3352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Submitted To:</a:t>
            </a:r>
          </a:p>
          <a:p>
            <a:r>
              <a:rPr lang="en-US" sz="2800" b="1" dirty="0"/>
              <a:t> Dr. Renu </a:t>
            </a:r>
            <a:r>
              <a:rPr lang="en-US" sz="2800" b="1" dirty="0" err="1"/>
              <a:t>Bagoria</a:t>
            </a:r>
            <a:r>
              <a:rPr lang="en-US" sz="2800" b="1" dirty="0"/>
              <a:t> HOD. Of </a:t>
            </a:r>
            <a:r>
              <a:rPr lang="en-US" sz="2800" b="1" dirty="0" err="1"/>
              <a:t>B.Tech</a:t>
            </a:r>
            <a:r>
              <a:rPr lang="en-US" sz="2800" b="1" dirty="0"/>
              <a:t> (CSE)</a:t>
            </a:r>
            <a:endParaRPr lang="en-IN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A7C5F-6CC3-016F-F5F0-F9E4688FFFCF}"/>
              </a:ext>
            </a:extLst>
          </p:cNvPr>
          <p:cNvSpPr txBox="1"/>
          <p:nvPr/>
        </p:nvSpPr>
        <p:spPr>
          <a:xfrm>
            <a:off x="8009466" y="4088278"/>
            <a:ext cx="392853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Submitted By:</a:t>
            </a:r>
          </a:p>
          <a:p>
            <a:r>
              <a:rPr lang="en-US" sz="2400" b="1" dirty="0"/>
              <a:t>Hritik </a:t>
            </a:r>
            <a:r>
              <a:rPr lang="en-US" sz="2400" b="1" dirty="0" err="1"/>
              <a:t>singh</a:t>
            </a:r>
            <a:endParaRPr lang="en-US" sz="2400" b="1" dirty="0"/>
          </a:p>
          <a:p>
            <a:r>
              <a:rPr lang="en-US" sz="2400" b="1" dirty="0"/>
              <a:t>Class Roll. 66</a:t>
            </a:r>
          </a:p>
          <a:p>
            <a:r>
              <a:rPr lang="en-US" sz="2400" b="1" dirty="0"/>
              <a:t> Enroll no. 0201230163 </a:t>
            </a:r>
            <a:r>
              <a:rPr lang="en-US" sz="2400" b="1" dirty="0" err="1"/>
              <a:t>B.Tech</a:t>
            </a:r>
            <a:r>
              <a:rPr lang="en-US" sz="2400" b="1" dirty="0"/>
              <a:t> 3rd Yr. CSE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89028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B522-6299-DB66-8016-AC8E5E10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3310"/>
            <a:ext cx="8911687" cy="1280890"/>
          </a:xfrm>
        </p:spPr>
        <p:txBody>
          <a:bodyPr/>
          <a:lstStyle/>
          <a:p>
            <a:r>
              <a:rPr lang="en-IN" b="1" dirty="0">
                <a:highlight>
                  <a:srgbClr val="00FFFF"/>
                </a:highlight>
              </a:rPr>
              <a:t>ABOUT SIMPLILEARN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41A6-FA95-2794-93B5-039B45D68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9733" y="1405467"/>
            <a:ext cx="9404879" cy="4505755"/>
          </a:xfrm>
        </p:spPr>
        <p:txBody>
          <a:bodyPr>
            <a:noAutofit/>
          </a:bodyPr>
          <a:lstStyle/>
          <a:p>
            <a:r>
              <a:rPr lang="en-US" sz="2000" b="1" dirty="0"/>
              <a:t>Simplilearn is a global online education platform that provides digital skills training and professional certification programs to individuals and corporations. </a:t>
            </a:r>
          </a:p>
          <a:p>
            <a:r>
              <a:rPr lang="en-US" sz="2000" b="1" dirty="0"/>
              <a:t> It offers a wide range of courses in areas like data science, cloud computing, cybersecurity, and digital marketing, often developed in partnership with universities and industry experts. The company uses a blend of live classes, on-demand courses, and hands-on projects to help learners upskill for careers in the digital economy.</a:t>
            </a:r>
          </a:p>
          <a:p>
            <a:r>
              <a:rPr lang="en-US" sz="2000" b="1" dirty="0"/>
              <a:t>Headquarters: San Francisco, California, and Bangalore, India</a:t>
            </a:r>
          </a:p>
          <a:p>
            <a:r>
              <a:rPr lang="en-US" sz="2000" b="1" dirty="0"/>
              <a:t>  Founding: Founded in 2010 by Krishna Kumar, Archana Kumari, and Kashyap Dalal. </a:t>
            </a:r>
          </a:p>
          <a:p>
            <a:r>
              <a:rPr lang="en-US" sz="2000" b="1" dirty="0"/>
              <a:t> Partnerships: Collaborates with universities and top companies to create industry-relevant curricula and offer globally recognized credentials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4885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9A1FF2FC-9AE2-2847-4410-0B959559D1E2}"/>
              </a:ext>
            </a:extLst>
          </p:cNvPr>
          <p:cNvSpPr/>
          <p:nvPr/>
        </p:nvSpPr>
        <p:spPr>
          <a:xfrm>
            <a:off x="1931436" y="544888"/>
            <a:ext cx="8911687" cy="905069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8F0B1-9656-2737-BE80-98BD897C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489" y="544888"/>
            <a:ext cx="8911687" cy="1280890"/>
          </a:xfrm>
        </p:spPr>
        <p:txBody>
          <a:bodyPr/>
          <a:lstStyle/>
          <a:p>
            <a:r>
              <a:rPr lang="en-IN" b="1" u="sng" dirty="0"/>
              <a:t>CERTIFICATE OF COMPLITION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3317D-1357-95F3-1E8F-90C2F45AA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436" y="1254143"/>
            <a:ext cx="8911687" cy="55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CCC6-9F28-C40D-4E27-B619BF35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0244"/>
            <a:ext cx="8911687" cy="1280890"/>
          </a:xfrm>
        </p:spPr>
        <p:txBody>
          <a:bodyPr/>
          <a:lstStyle/>
          <a:p>
            <a:r>
              <a:rPr lang="en-IN" b="1" u="sng" dirty="0"/>
              <a:t>COURSE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0B293-EF76-542E-5FB9-0A1D67AD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5591" y="1439333"/>
            <a:ext cx="9589021" cy="4828423"/>
          </a:xfrm>
        </p:spPr>
        <p:txBody>
          <a:bodyPr>
            <a:normAutofit/>
          </a:bodyPr>
          <a:lstStyle/>
          <a:p>
            <a:r>
              <a:rPr lang="en-IN" sz="2400" b="1" dirty="0"/>
              <a:t> Introduction Python Development.</a:t>
            </a:r>
          </a:p>
          <a:p>
            <a:r>
              <a:rPr lang="en-IN" sz="2400" b="1" dirty="0"/>
              <a:t>  Apply Control Structures</a:t>
            </a:r>
          </a:p>
          <a:p>
            <a:r>
              <a:rPr lang="en-IN" sz="2400" b="1" dirty="0"/>
              <a:t>Work with Data Structures</a:t>
            </a:r>
          </a:p>
          <a:p>
            <a:r>
              <a:rPr lang="en-IN" sz="2400" b="1" dirty="0"/>
              <a:t>Modular &amp; Functional Programming</a:t>
            </a:r>
          </a:p>
          <a:p>
            <a:r>
              <a:rPr lang="en-IN" sz="2400" b="1" dirty="0"/>
              <a:t> File Handling &amp; Exceptions. </a:t>
            </a:r>
          </a:p>
          <a:p>
            <a:r>
              <a:rPr lang="en-IN" sz="2400" b="1" dirty="0"/>
              <a:t> Object-Oriented Programming</a:t>
            </a:r>
          </a:p>
          <a:p>
            <a:r>
              <a:rPr lang="en-IN" sz="2400" b="1" dirty="0"/>
              <a:t>Work With Libraries</a:t>
            </a:r>
          </a:p>
          <a:p>
            <a:r>
              <a:rPr lang="en-IN" sz="2400" b="1" dirty="0"/>
              <a:t>Develop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6048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4BB45485-9E4E-9F9E-6F11-667764694EC1}"/>
              </a:ext>
            </a:extLst>
          </p:cNvPr>
          <p:cNvSpPr/>
          <p:nvPr/>
        </p:nvSpPr>
        <p:spPr>
          <a:xfrm>
            <a:off x="2118049" y="494243"/>
            <a:ext cx="8845388" cy="905069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5E1EE-3D46-0EC3-50B3-D3733A79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PROJECT (scientific calculator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7A79-BBD5-C9D8-63A5-6723042CE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049" y="2716001"/>
            <a:ext cx="8915400" cy="3876355"/>
          </a:xfrm>
        </p:spPr>
        <p:txBody>
          <a:bodyPr/>
          <a:lstStyle/>
          <a:p>
            <a:r>
              <a:rPr lang="en-US" sz="2800" b="1" dirty="0"/>
              <a:t>• Basic Arithmetic Operations</a:t>
            </a:r>
          </a:p>
          <a:p>
            <a:pPr lvl="1"/>
            <a:r>
              <a:rPr lang="en-US" sz="2800" b="1" dirty="0"/>
              <a:t>• Scientific Functions: sin, cos, tan, log, ln, sqrt, factorial</a:t>
            </a:r>
          </a:p>
          <a:p>
            <a:pPr lvl="1"/>
            <a:r>
              <a:rPr lang="en-US" sz="2800" b="1" dirty="0"/>
              <a:t>• Memory Functions: M+, M-, MR, MC</a:t>
            </a:r>
          </a:p>
          <a:p>
            <a:pPr lvl="1"/>
            <a:r>
              <a:rPr lang="en-US" sz="2800" b="1" dirty="0"/>
              <a:t>• Safe Expression Evaluation</a:t>
            </a:r>
          </a:p>
          <a:p>
            <a:pPr lvl="1"/>
            <a:r>
              <a:rPr lang="en-US" sz="2800" b="1" dirty="0"/>
              <a:t>• GUI Built Using </a:t>
            </a:r>
            <a:r>
              <a:rPr lang="en-US" sz="2800" b="1" dirty="0" err="1"/>
              <a:t>Tkinter</a:t>
            </a:r>
            <a:endParaRPr lang="en-US" sz="2800" b="1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92A64-CE44-984C-CFCD-3AA744C861DD}"/>
              </a:ext>
            </a:extLst>
          </p:cNvPr>
          <p:cNvSpPr txBox="1"/>
          <p:nvPr/>
        </p:nvSpPr>
        <p:spPr>
          <a:xfrm>
            <a:off x="1880982" y="1702802"/>
            <a:ext cx="5942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414948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E1E0-E446-EEC3-F051-6B916D64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4445171" y="1482970"/>
            <a:ext cx="7059441" cy="78986"/>
          </a:xfrm>
        </p:spPr>
        <p:txBody>
          <a:bodyPr>
            <a:normAutofit fontScale="90000"/>
          </a:bodyPr>
          <a:lstStyle/>
          <a:p>
            <a:r>
              <a:rPr lang="en-US" dirty="0"/>
              <a:t>.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F95C01C-2AF5-7C90-D7D8-81AC24CD7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722845"/>
              </p:ext>
            </p:extLst>
          </p:nvPr>
        </p:nvGraphicFramePr>
        <p:xfrm>
          <a:off x="2016369" y="1863969"/>
          <a:ext cx="9016299" cy="37268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86801">
                  <a:extLst>
                    <a:ext uri="{9D8B030D-6E8A-4147-A177-3AD203B41FA5}">
                      <a16:colId xmlns:a16="http://schemas.microsoft.com/office/drawing/2014/main" val="2074840021"/>
                    </a:ext>
                  </a:extLst>
                </a:gridCol>
                <a:gridCol w="5429498">
                  <a:extLst>
                    <a:ext uri="{9D8B030D-6E8A-4147-A177-3AD203B41FA5}">
                      <a16:colId xmlns:a16="http://schemas.microsoft.com/office/drawing/2014/main" val="79113018"/>
                    </a:ext>
                  </a:extLst>
                </a:gridCol>
              </a:tblGrid>
              <a:tr h="673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/>
                        <a:t>Component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/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097298"/>
                  </a:ext>
                </a:extLst>
              </a:tr>
              <a:tr h="625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Language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Python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969904"/>
                  </a:ext>
                </a:extLst>
              </a:tr>
              <a:tr h="625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Library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Tkinter</a:t>
                      </a:r>
                      <a:r>
                        <a:rPr lang="en-US" dirty="0"/>
                        <a:t> (for GUI)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2227"/>
                  </a:ext>
                </a:extLst>
              </a:tr>
              <a:tr h="823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Functions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eval(), Entry widget, Button widget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197780"/>
                  </a:ext>
                </a:extLst>
              </a:tr>
              <a:tr h="978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VS Code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40060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D73B94A-C67C-B0AD-E485-1AE9A5732253}"/>
              </a:ext>
            </a:extLst>
          </p:cNvPr>
          <p:cNvSpPr txBox="1">
            <a:spLocks/>
          </p:cNvSpPr>
          <p:nvPr/>
        </p:nvSpPr>
        <p:spPr>
          <a:xfrm flipV="1">
            <a:off x="4597571" y="1635370"/>
            <a:ext cx="7059441" cy="7898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167091-18E5-D7CF-6217-7D08FAFC0EFD}"/>
              </a:ext>
            </a:extLst>
          </p:cNvPr>
          <p:cNvSpPr txBox="1">
            <a:spLocks/>
          </p:cNvSpPr>
          <p:nvPr/>
        </p:nvSpPr>
        <p:spPr>
          <a:xfrm>
            <a:off x="2018494" y="849924"/>
            <a:ext cx="7059441" cy="84448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u="sng">
                <a:ea typeface="+mj-lt"/>
                <a:cs typeface="+mj-lt"/>
              </a:rPr>
              <a:t>Technology Used</a:t>
            </a:r>
            <a:endParaRPr lang="en-US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586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5A531F-D458-8447-8D71-4A3D9C8A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622300"/>
            <a:ext cx="10746908" cy="51484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F49C0B"/>
              </a:buClr>
              <a:buNone/>
            </a:pPr>
            <a:r>
              <a:rPr lang="en-US" sz="2400" b="1" u="sng" dirty="0"/>
              <a:t>How to Use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buClr>
                <a:srgbClr val="F49C0B"/>
              </a:buClr>
            </a:pPr>
            <a:r>
              <a:rPr lang="en-US" sz="3200" dirty="0"/>
              <a:t>Run the Python program.</a:t>
            </a:r>
            <a:endParaRPr lang="en-US" sz="3200" dirty="0">
              <a:solidFill>
                <a:srgbClr val="000000"/>
              </a:solidFill>
            </a:endParaRPr>
          </a:p>
          <a:p>
            <a:pPr>
              <a:buClr>
                <a:srgbClr val="A53010"/>
              </a:buClr>
            </a:pPr>
            <a:r>
              <a:rPr lang="en-US" sz="3200" dirty="0"/>
              <a:t>The calculator window will appear.</a:t>
            </a:r>
            <a:endParaRPr lang="en-US" sz="3200" dirty="0">
              <a:solidFill>
                <a:srgbClr val="000000"/>
              </a:solidFill>
            </a:endParaRPr>
          </a:p>
          <a:p>
            <a:pPr>
              <a:buClr>
                <a:srgbClr val="A53010"/>
              </a:buClr>
            </a:pPr>
            <a:r>
              <a:rPr lang="en-US" sz="3200" dirty="0"/>
              <a:t>Click on number and operator buttons to form an equation.</a:t>
            </a:r>
            <a:endParaRPr lang="en-US" sz="3200" dirty="0">
              <a:solidFill>
                <a:srgbClr val="000000"/>
              </a:solidFill>
            </a:endParaRPr>
          </a:p>
          <a:p>
            <a:pPr>
              <a:buClr>
                <a:srgbClr val="A53010"/>
              </a:buClr>
            </a:pPr>
            <a:r>
              <a:rPr lang="en-US" sz="3200" dirty="0"/>
              <a:t>Press </a:t>
            </a:r>
            <a:r>
              <a:rPr lang="en-US" sz="3200" dirty="0">
                <a:latin typeface="Consolas"/>
              </a:rPr>
              <a:t>=</a:t>
            </a:r>
            <a:r>
              <a:rPr lang="en-US" sz="3200" dirty="0"/>
              <a:t> to see the result.</a:t>
            </a:r>
            <a:endParaRPr lang="en-US" sz="3200" dirty="0">
              <a:solidFill>
                <a:srgbClr val="000000"/>
              </a:solidFill>
            </a:endParaRPr>
          </a:p>
          <a:p>
            <a:pPr>
              <a:buClr>
                <a:srgbClr val="A53010"/>
              </a:buClr>
            </a:pPr>
            <a:r>
              <a:rPr lang="en-US" sz="3200" dirty="0"/>
              <a:t>Use </a:t>
            </a:r>
            <a:r>
              <a:rPr lang="en-US" sz="3200" dirty="0">
                <a:latin typeface="Consolas"/>
              </a:rPr>
              <a:t>C</a:t>
            </a:r>
            <a:r>
              <a:rPr lang="en-US" sz="3200" dirty="0"/>
              <a:t> to clear the screen.</a:t>
            </a:r>
            <a:endParaRPr lang="en-US" sz="3200" dirty="0">
              <a:solidFill>
                <a:srgbClr val="000000"/>
              </a:solidFill>
            </a:endParaRPr>
          </a:p>
          <a:p>
            <a:pPr>
              <a:buClr>
                <a:srgbClr val="F49C0B"/>
              </a:buClr>
            </a:pPr>
            <a:endParaRPr lang="en-US" dirty="0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3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5A5D67-5AF1-B854-2C26-20498D86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067" y="702550"/>
            <a:ext cx="5077545" cy="5236567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400" b="1" u="sng" dirty="0">
                <a:solidFill>
                  <a:srgbClr val="404040"/>
                </a:solidFill>
              </a:rPr>
              <a:t>Step 1: User Interface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spcBef>
                <a:spcPts val="1000"/>
              </a:spcBef>
            </a:pP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When the program runs, this </a:t>
            </a:r>
            <a:r>
              <a:rPr lang="en-US" sz="2400" b="1" dirty="0">
                <a:solidFill>
                  <a:srgbClr val="404040"/>
                </a:solidFill>
              </a:rPr>
              <a:t>calculator window</a:t>
            </a:r>
            <a:r>
              <a:rPr lang="en-US" sz="2400" dirty="0">
                <a:solidFill>
                  <a:srgbClr val="404040"/>
                </a:solidFill>
              </a:rPr>
              <a:t> appears with buttons </a:t>
            </a:r>
            <a:r>
              <a:rPr lang="en-US" sz="2400" dirty="0" err="1">
                <a:solidFill>
                  <a:srgbClr val="404040"/>
                </a:solidFill>
              </a:rPr>
              <a:t>fornumbers</a:t>
            </a:r>
            <a:r>
              <a:rPr lang="en-US" sz="2400" dirty="0">
                <a:solidFill>
                  <a:srgbClr val="404040"/>
                </a:solidFill>
              </a:rPr>
              <a:t> (0–9) and operators</a:t>
            </a:r>
            <a:endParaRPr lang="en-US" sz="24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A </a:t>
            </a:r>
            <a:r>
              <a:rPr lang="en-US" sz="2400" b="1" dirty="0">
                <a:solidFill>
                  <a:srgbClr val="404040"/>
                </a:solidFill>
              </a:rPr>
              <a:t>display box</a:t>
            </a:r>
            <a:r>
              <a:rPr lang="en-US" sz="2400" dirty="0">
                <a:solidFill>
                  <a:srgbClr val="404040"/>
                </a:solidFill>
              </a:rPr>
              <a:t> (Entry widget) is used to show user input and results.</a:t>
            </a:r>
            <a:endParaRPr lang="en-US" sz="2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A2AC1-53C1-C276-48AC-329C6DDE8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3" y="0"/>
            <a:ext cx="4795785" cy="670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45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085C-6652-D7B9-F964-3D9E665E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997" y="926123"/>
            <a:ext cx="8915400" cy="4238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Step 2: Input Handling</a:t>
            </a:r>
            <a:endParaRPr lang="en-US" sz="3200" b="1" u="sng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800" dirty="0"/>
              <a:t>When the user clicks on a number or operator button, that value is </a:t>
            </a:r>
            <a:r>
              <a:rPr lang="en-US" sz="2800" b="1" dirty="0"/>
              <a:t>inserted into the display box</a:t>
            </a:r>
            <a:r>
              <a:rPr lang="en-US" sz="2800" dirty="0"/>
              <a:t>.</a:t>
            </a:r>
            <a:endParaRPr lang="en-US" sz="2800" dirty="0">
              <a:solidFill>
                <a:srgbClr val="000000"/>
              </a:solidFill>
            </a:endParaRPr>
          </a:p>
          <a:p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b="1" dirty="0"/>
              <a:t>click()</a:t>
            </a:r>
            <a:r>
              <a:rPr lang="en-US" sz="2800" dirty="0"/>
              <a:t> function is used to capture the button event.</a:t>
            </a:r>
            <a:endParaRPr lang="en-US" sz="2800" dirty="0">
              <a:solidFill>
                <a:srgbClr val="000000"/>
              </a:solidFill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55853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CB2E6-56FB-27A6-B745-9B648A8C3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165" y="797168"/>
            <a:ext cx="9761701" cy="56036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b="1" u="sng" dirty="0"/>
              <a:t>Step 3: Expression Evaluation</a:t>
            </a:r>
            <a:endParaRPr lang="en-US" sz="3200" b="1" u="sng" dirty="0">
              <a:solidFill>
                <a:srgbClr val="000000"/>
              </a:solidFill>
            </a:endParaRPr>
          </a:p>
          <a:p>
            <a:r>
              <a:rPr lang="en-US" sz="2400" dirty="0"/>
              <a:t>When the user presses the “=” button:</a:t>
            </a:r>
            <a:endParaRPr lang="en-US" sz="2400" dirty="0">
              <a:solidFill>
                <a:srgbClr val="000000"/>
              </a:solidFill>
            </a:endParaRPr>
          </a:p>
          <a:p>
            <a:pPr lvl="1"/>
            <a:r>
              <a:rPr lang="en-US" sz="2400" dirty="0"/>
              <a:t>The entered mathematical expression is taken from the display.</a:t>
            </a:r>
            <a:endParaRPr lang="en-US" sz="2400" dirty="0">
              <a:solidFill>
                <a:srgbClr val="000000"/>
              </a:solidFill>
            </a:endParaRPr>
          </a:p>
          <a:p>
            <a:pPr lvl="1"/>
            <a:r>
              <a:rPr lang="en-US" sz="2400" dirty="0"/>
              <a:t>It is passed to Python’s built-in </a:t>
            </a:r>
            <a:r>
              <a:rPr lang="en-US" sz="2400" b="1" dirty="0"/>
              <a:t>eval()</a:t>
            </a:r>
            <a:r>
              <a:rPr lang="en-US" sz="2400" dirty="0"/>
              <a:t> function.</a:t>
            </a:r>
            <a:endParaRPr lang="en-US" sz="2400" dirty="0">
              <a:solidFill>
                <a:srgbClr val="000000"/>
              </a:solidFill>
            </a:endParaRPr>
          </a:p>
          <a:p>
            <a:pPr lvl="1"/>
            <a:r>
              <a:rPr lang="en-US" sz="2400" dirty="0"/>
              <a:t>The result is calculated and shown on the display.</a:t>
            </a:r>
            <a:endParaRPr lang="en-US" sz="2400" dirty="0">
              <a:solidFill>
                <a:srgbClr val="000000"/>
              </a:solidFill>
            </a:endParaRPr>
          </a:p>
          <a:p>
            <a:pPr lvl="1"/>
            <a:r>
              <a:rPr lang="en-US" sz="2400" dirty="0"/>
              <a:t>Step 4: Error Handling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/>
              <a:t>If the user enters an invalid expression, the program displays </a:t>
            </a:r>
            <a:r>
              <a:rPr lang="en-US" sz="2400" b="1" dirty="0"/>
              <a:t>“Error”</a:t>
            </a:r>
            <a:r>
              <a:rPr lang="en-US" sz="2400" dirty="0"/>
              <a:t>.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/>
              <a:t>The “C” (Clear) button clears the screen for new input.</a:t>
            </a:r>
          </a:p>
        </p:txBody>
      </p:sp>
    </p:spTree>
    <p:extLst>
      <p:ext uri="{BB962C8B-B14F-4D97-AF65-F5344CB8AC3E}">
        <p14:creationId xmlns:p14="http://schemas.microsoft.com/office/powerpoint/2010/main" val="4090808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93D0-BFA0-9E32-91B2-FE8FEE17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4088"/>
            <a:ext cx="8911687" cy="1280890"/>
          </a:xfrm>
        </p:spPr>
        <p:txBody>
          <a:bodyPr/>
          <a:lstStyle/>
          <a:p>
            <a:r>
              <a:rPr lang="en-US" b="1" u="sng" dirty="0"/>
              <a:t>Image of project</a:t>
            </a:r>
            <a:endParaRPr lang="en-IN" b="1" u="sng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690F8C1-E35C-481B-CDDE-30B36F07B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4" y="1134533"/>
            <a:ext cx="8911687" cy="5723467"/>
          </a:xfrm>
        </p:spPr>
      </p:pic>
    </p:spTree>
    <p:extLst>
      <p:ext uri="{BB962C8B-B14F-4D97-AF65-F5344CB8AC3E}">
        <p14:creationId xmlns:p14="http://schemas.microsoft.com/office/powerpoint/2010/main" val="23098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1B23-D207-DC33-867D-36EC999EE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443" y="339969"/>
            <a:ext cx="8915400" cy="37776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u="sng" dirty="0"/>
              <a:t>🔍 </a:t>
            </a:r>
            <a:r>
              <a:rPr lang="en-US" sz="3200" b="1" u="sng" dirty="0"/>
              <a:t>Key Features</a:t>
            </a:r>
            <a:endParaRPr lang="en-US" sz="3200" u="sng" dirty="0"/>
          </a:p>
          <a:p>
            <a:pPr marL="0" indent="0">
              <a:buNone/>
            </a:pPr>
            <a:endParaRPr lang="en-US" sz="28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 ✅ Easy to use GUI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✅ Handles all basic arithmetic operations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✅ Clear button for correction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✅ Error handling for invalid input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0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CB6D-6CEF-6A77-9B03-F5A2DF33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387" y="2195003"/>
            <a:ext cx="8911687" cy="14684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u="sng" dirty="0"/>
              <a:t>Thank You</a:t>
            </a:r>
            <a:endParaRPr lang="en-US" b="1" u="sng"/>
          </a:p>
        </p:txBody>
      </p:sp>
    </p:spTree>
    <p:extLst>
      <p:ext uri="{BB962C8B-B14F-4D97-AF65-F5344CB8AC3E}">
        <p14:creationId xmlns:p14="http://schemas.microsoft.com/office/powerpoint/2010/main" val="11193986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522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Century Gothic</vt:lpstr>
      <vt:lpstr>Consolas</vt:lpstr>
      <vt:lpstr>Wingdings 3</vt:lpstr>
      <vt:lpstr>Wisp</vt:lpstr>
      <vt:lpstr>A  Industrial Training  On  Python development  from  Simplilearn by skill up </vt:lpstr>
      <vt:lpstr>ABOUT SIMPLILEARN</vt:lpstr>
      <vt:lpstr>CERTIFICATE OF COMPLITION</vt:lpstr>
      <vt:lpstr>COURSE OUTCOME</vt:lpstr>
      <vt:lpstr>PROJECT (scientific calculator )</vt:lpstr>
      <vt:lpstr>. </vt:lpstr>
      <vt:lpstr>PowerPoint Presentation</vt:lpstr>
      <vt:lpstr>Step 1: User Interface  When the program runs, this calculator window appears with buttons fornumbers (0–9) and operators A display box (Entry widget) is used to show user input and results.</vt:lpstr>
      <vt:lpstr>PowerPoint Presentation</vt:lpstr>
      <vt:lpstr>PowerPoint Presentation</vt:lpstr>
      <vt:lpstr>Image of project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</dc:creator>
  <cp:lastModifiedBy>Rider King</cp:lastModifiedBy>
  <cp:revision>196</cp:revision>
  <dcterms:created xsi:type="dcterms:W3CDTF">2025-11-10T16:16:56Z</dcterms:created>
  <dcterms:modified xsi:type="dcterms:W3CDTF">2025-11-19T12:56:47Z</dcterms:modified>
</cp:coreProperties>
</file>